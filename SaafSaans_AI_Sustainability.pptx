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07339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2740219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235373361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9808740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895953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65966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0609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753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Introduce the project in one line: most people find out Delhi air is bad by feeling it, not by being warned.</a:t>
            </a:r>
            <a:endParaRPr lang="en-US"/>
          </a:p>
        </p:txBody>
      </p:sp>
      <p:sp>
        <p:nvSpPr>
          <p:cNvPr id="18144622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854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6817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04540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52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5145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0141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0553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72006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6068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135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77095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48333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693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62949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26570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3802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0228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1816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48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0356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45244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22303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8751" name="Shape 0"/>
          <p:cNvSpPr/>
          <p:nvPr/>
        </p:nvSpPr>
        <p:spPr bwMode="auto">
          <a:xfrm>
            <a:off x="6492240" y="914400"/>
            <a:ext cx="3291840" cy="3291840"/>
          </a:xfrm>
          <a:prstGeom prst="ellipse">
            <a:avLst/>
          </a:prstGeom>
          <a:solidFill>
            <a:srgbClr val="D98324">
              <a:alpha val="18000"/>
            </a:srgbClr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1803833293" name="Shape 1"/>
          <p:cNvSpPr/>
          <p:nvPr/>
        </p:nvSpPr>
        <p:spPr bwMode="auto">
          <a:xfrm>
            <a:off x="7223760" y="1645920"/>
            <a:ext cx="1828800" cy="1828800"/>
          </a:xfrm>
          <a:prstGeom prst="ellipse">
            <a:avLst/>
          </a:prstGeom>
          <a:solidFill>
            <a:srgbClr val="D98324">
              <a:alpha val="40000"/>
            </a:srgbClr>
          </a:solidFill>
          <a:ln/>
        </p:spPr>
      </p:sp>
      <p:sp>
        <p:nvSpPr>
          <p:cNvPr id="1262857007" name="Text 2"/>
          <p:cNvSpPr txBox="1"/>
          <p:nvPr/>
        </p:nvSpPr>
        <p:spPr bwMode="auto">
          <a:xfrm>
            <a:off x="640080" y="1371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SaafSaans</a:t>
            </a:r>
            <a:endParaRPr lang="en-US" sz="4400"/>
          </a:p>
        </p:txBody>
      </p:sp>
      <p:sp>
        <p:nvSpPr>
          <p:cNvPr id="1755164179" name="Text 3"/>
          <p:cNvSpPr txBox="1"/>
          <p:nvPr/>
        </p:nvSpPr>
        <p:spPr bwMode="auto">
          <a:xfrm>
            <a:off x="640080" y="2240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>
                <a:solidFill>
                  <a:srgbClr val="E8C9A0"/>
                </a:solidFill>
                <a:latin typeface="Calibri"/>
                <a:ea typeface="Calibri"/>
                <a:cs typeface="Calibri"/>
              </a:rPr>
              <a:t>An AI early-warning assistant for Delhi’s air</a:t>
            </a:r>
            <a:endParaRPr lang="en-US" sz="1700"/>
          </a:p>
        </p:txBody>
      </p:sp>
      <p:sp>
        <p:nvSpPr>
          <p:cNvPr id="567462788" name="Text 4"/>
          <p:cNvSpPr txBox="1"/>
          <p:nvPr/>
        </p:nvSpPr>
        <p:spPr bwMode="auto">
          <a:xfrm>
            <a:off x="640080" y="3200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C4CDD4"/>
                </a:solidFill>
                <a:latin typeface="Calibri"/>
                <a:ea typeface="Calibri"/>
                <a:cs typeface="Calibri"/>
              </a:rPr>
              <a:t>Nimisha Rawat</a:t>
            </a:r>
            <a:endParaRPr lang="en-US" sz="1300"/>
          </a:p>
        </p:txBody>
      </p:sp>
      <p:sp>
        <p:nvSpPr>
          <p:cNvPr id="482918560" name="Text 5"/>
          <p:cNvSpPr txBox="1"/>
          <p:nvPr/>
        </p:nvSpPr>
        <p:spPr bwMode="auto"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8B98A4"/>
                </a:solidFill>
                <a:latin typeface="Calibri"/>
                <a:ea typeface="Calibri"/>
                <a:cs typeface="Calibri"/>
              </a:rPr>
              <a:t>1M1B · IBM SkillsBuild · AICTE  |  AI for Sustainability Virtual Internship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017746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SDG alignment</a:t>
            </a:r>
            <a:endParaRPr lang="en-US" sz="3200"/>
          </a:p>
        </p:txBody>
      </p:sp>
      <p:sp>
        <p:nvSpPr>
          <p:cNvPr id="9536668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One primary goal, two supporting</a:t>
            </a:r>
            <a:endParaRPr lang="en-US" sz="1300"/>
          </a:p>
        </p:txBody>
      </p:sp>
      <p:sp>
        <p:nvSpPr>
          <p:cNvPr id="1407950826" name="Shape 2"/>
          <p:cNvSpPr/>
          <p:nvPr/>
        </p:nvSpPr>
        <p:spPr bwMode="auto">
          <a:xfrm>
            <a:off x="548640" y="1554480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22303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876275762" name="Text 3"/>
          <p:cNvSpPr txBox="1"/>
          <p:nvPr/>
        </p:nvSpPr>
        <p:spPr bwMode="auto">
          <a:xfrm>
            <a:off x="54864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000" b="1">
                <a:solidFill>
                  <a:srgbClr val="D98324"/>
                </a:solidFill>
                <a:latin typeface="Cambria"/>
                <a:ea typeface="Cambria"/>
                <a:cs typeface="Cambria"/>
              </a:rPr>
              <a:t>13</a:t>
            </a:r>
            <a:endParaRPr lang="en-US" sz="6000"/>
          </a:p>
        </p:txBody>
      </p:sp>
      <p:sp>
        <p:nvSpPr>
          <p:cNvPr id="420784505" name="Text 4"/>
          <p:cNvSpPr txBox="1"/>
          <p:nvPr/>
        </p:nvSpPr>
        <p:spPr bwMode="auto">
          <a:xfrm>
            <a:off x="5486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Climate action</a:t>
            </a:r>
            <a:endParaRPr lang="en-US" sz="1600"/>
          </a:p>
        </p:txBody>
      </p:sp>
      <p:sp>
        <p:nvSpPr>
          <p:cNvPr id="163438000" name="Text 5"/>
          <p:cNvSpPr txBox="1"/>
          <p:nvPr/>
        </p:nvSpPr>
        <p:spPr bwMode="auto">
          <a:xfrm>
            <a:off x="548640" y="3017519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9DAAB5"/>
                </a:solidFill>
                <a:latin typeface="Calibri"/>
                <a:ea typeface="Calibri"/>
                <a:cs typeface="Calibri"/>
              </a:rPr>
              <a:t>Primary goal</a:t>
            </a:r>
            <a:endParaRPr lang="en-US" sz="1100"/>
          </a:p>
        </p:txBody>
      </p:sp>
      <p:sp>
        <p:nvSpPr>
          <p:cNvPr id="1953078336" name="Shape 6"/>
          <p:cNvSpPr/>
          <p:nvPr/>
        </p:nvSpPr>
        <p:spPr bwMode="auto">
          <a:xfrm>
            <a:off x="3566160" y="155448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34443479" name="Text 7"/>
          <p:cNvSpPr txBox="1"/>
          <p:nvPr/>
        </p:nvSpPr>
        <p:spPr bwMode="auto">
          <a:xfrm>
            <a:off x="3749040" y="1691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D8A6A"/>
                </a:solidFill>
                <a:latin typeface="Calibri"/>
                <a:ea typeface="Calibri"/>
                <a:cs typeface="Calibri"/>
              </a:rPr>
              <a:t>SDG 3</a:t>
            </a:r>
            <a:endParaRPr lang="en-US" sz="1500"/>
          </a:p>
        </p:txBody>
      </p:sp>
      <p:sp>
        <p:nvSpPr>
          <p:cNvPr id="1671896820" name="Text 8"/>
          <p:cNvSpPr txBox="1"/>
          <p:nvPr/>
        </p:nvSpPr>
        <p:spPr bwMode="auto">
          <a:xfrm>
            <a:off x="37490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Good health and well-being</a:t>
            </a:r>
            <a:endParaRPr lang="en-US" sz="1200"/>
          </a:p>
        </p:txBody>
      </p:sp>
      <p:sp>
        <p:nvSpPr>
          <p:cNvPr id="2094379143" name="Shape 9"/>
          <p:cNvSpPr/>
          <p:nvPr/>
        </p:nvSpPr>
        <p:spPr bwMode="auto">
          <a:xfrm>
            <a:off x="3566160" y="283464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211998101" name="Text 10"/>
          <p:cNvSpPr txBox="1"/>
          <p:nvPr/>
        </p:nvSpPr>
        <p:spPr bwMode="auto">
          <a:xfrm>
            <a:off x="374904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D8A6A"/>
                </a:solidFill>
                <a:latin typeface="Calibri"/>
                <a:ea typeface="Calibri"/>
                <a:cs typeface="Calibri"/>
              </a:rPr>
              <a:t>SDG 11</a:t>
            </a:r>
            <a:endParaRPr lang="en-US" sz="1500"/>
          </a:p>
        </p:txBody>
      </p:sp>
      <p:sp>
        <p:nvSpPr>
          <p:cNvPr id="310999756" name="Text 11"/>
          <p:cNvSpPr txBox="1"/>
          <p:nvPr/>
        </p:nvSpPr>
        <p:spPr bwMode="auto">
          <a:xfrm>
            <a:off x="3749040" y="32918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Sustainable cities and communities</a:t>
            </a:r>
            <a:endParaRPr lang="en-US" sz="1200"/>
          </a:p>
        </p:txBody>
      </p:sp>
      <p:sp>
        <p:nvSpPr>
          <p:cNvPr id="1254682435" name="Shape 12"/>
          <p:cNvSpPr/>
          <p:nvPr/>
        </p:nvSpPr>
        <p:spPr bwMode="auto">
          <a:xfrm>
            <a:off x="6355080" y="1554480"/>
            <a:ext cx="2240280" cy="237744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316766343" name="Text 13"/>
          <p:cNvSpPr txBox="1"/>
          <p:nvPr/>
        </p:nvSpPr>
        <p:spPr bwMode="auto">
          <a:xfrm>
            <a:off x="6537960" y="1691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Why it fits</a:t>
            </a:r>
            <a:endParaRPr lang="en-US" sz="1300"/>
          </a:p>
        </p:txBody>
      </p:sp>
      <p:sp>
        <p:nvSpPr>
          <p:cNvPr id="1214536479" name="Text 14"/>
          <p:cNvSpPr txBox="1"/>
          <p:nvPr/>
        </p:nvSpPr>
        <p:spPr bwMode="auto">
          <a:xfrm>
            <a:off x="6537960" y="205740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Air quality is a climate outcome and a health exposure at the same time.</a:t>
            </a:r>
            <a:endParaRPr lang="en-US" sz="1100"/>
          </a:p>
          <a:p>
            <a:pPr marL="342900" indent="-342900">
              <a:spcAft>
                <a:spcPts val="800"/>
              </a:spcAft>
              <a:buSzPct val="100000"/>
              <a:buChar char="•"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Delhi is the clearest Indian case of both meeting in one city.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596828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The problem</a:t>
            </a:r>
            <a:endParaRPr lang="en-US" sz="3200"/>
          </a:p>
        </p:txBody>
      </p:sp>
      <p:sp>
        <p:nvSpPr>
          <p:cNvPr id="160496027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The data exists. The decision does not.</a:t>
            </a:r>
            <a:endParaRPr lang="en-US" sz="1300"/>
          </a:p>
        </p:txBody>
      </p:sp>
      <p:sp>
        <p:nvSpPr>
          <p:cNvPr id="164130260" name="Shape 2"/>
          <p:cNvSpPr/>
          <p:nvPr/>
        </p:nvSpPr>
        <p:spPr bwMode="auto">
          <a:xfrm>
            <a:off x="548640" y="1600200"/>
            <a:ext cx="37947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326722559" name="Text 3"/>
          <p:cNvSpPr txBox="1"/>
          <p:nvPr/>
        </p:nvSpPr>
        <p:spPr bwMode="auto">
          <a:xfrm>
            <a:off x="777240" y="18745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4000" b="1">
                <a:solidFill>
                  <a:srgbClr val="D98324"/>
                </a:solidFill>
                <a:latin typeface="Cambria"/>
                <a:ea typeface="Cambria"/>
                <a:cs typeface="Cambria"/>
              </a:rPr>
              <a:t>AQI 340</a:t>
            </a:r>
            <a:endParaRPr lang="en-US" sz="4000"/>
          </a:p>
        </p:txBody>
      </p:sp>
      <p:sp>
        <p:nvSpPr>
          <p:cNvPr id="705420448" name="Text 4"/>
          <p:cNvSpPr txBox="1"/>
          <p:nvPr/>
        </p:nvSpPr>
        <p:spPr bwMode="auto">
          <a:xfrm>
            <a:off x="777240" y="251460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What a resident sees today</a:t>
            </a:r>
            <a:endParaRPr lang="en-US" sz="1200"/>
          </a:p>
        </p:txBody>
      </p:sp>
      <p:sp>
        <p:nvSpPr>
          <p:cNvPr id="19053468" name="Text 5"/>
          <p:cNvSpPr txBox="1"/>
          <p:nvPr/>
        </p:nvSpPr>
        <p:spPr bwMode="auto">
          <a:xfrm>
            <a:off x="777240" y="2834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A number, published after the air is already bad, with no interpretation and no lead time. It does not tell a parent whether their child should play outside.</a:t>
            </a:r>
            <a:endParaRPr lang="en-US" sz="1200"/>
          </a:p>
        </p:txBody>
      </p:sp>
      <p:sp>
        <p:nvSpPr>
          <p:cNvPr id="1658751517" name="Shape 6"/>
          <p:cNvSpPr/>
          <p:nvPr/>
        </p:nvSpPr>
        <p:spPr bwMode="auto">
          <a:xfrm>
            <a:off x="4617720" y="1600200"/>
            <a:ext cx="3977640" cy="2377440"/>
          </a:xfrm>
          <a:prstGeom prst="roundRect">
            <a:avLst>
              <a:gd name="adj" fmla="val 3077"/>
            </a:avLst>
          </a:prstGeom>
          <a:solidFill>
            <a:srgbClr val="22303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670555818" name="Text 7"/>
          <p:cNvSpPr txBox="1"/>
          <p:nvPr/>
        </p:nvSpPr>
        <p:spPr bwMode="auto">
          <a:xfrm>
            <a:off x="4846320" y="182880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The three gaps</a:t>
            </a:r>
            <a:endParaRPr lang="en-US" sz="1400"/>
          </a:p>
        </p:txBody>
      </p:sp>
      <p:sp>
        <p:nvSpPr>
          <p:cNvPr id="860698206" name="Text 8"/>
          <p:cNvSpPr txBox="1"/>
          <p:nvPr/>
        </p:nvSpPr>
        <p:spPr bwMode="auto">
          <a:xfrm>
            <a:off x="4846320" y="224028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No lead time — exposure has already happened by the time the reading is seen.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No interpretation — a number is not a decision.</a:t>
            </a:r>
            <a:endParaRPr lang="en-US" sz="1200"/>
          </a:p>
          <a:p>
            <a:pPr marL="342900" indent="-342900">
              <a:spcAft>
                <a:spcPts val="1000"/>
              </a:spcAft>
              <a:buSzPct val="100000"/>
              <a:buChar char="•"/>
              <a:defRPr/>
            </a:pPr>
            <a:r>
              <a:rPr lang="en-US" sz="12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No personalisation — an asthmatic child and a healthy adult get the same figure.</a:t>
            </a:r>
            <a:endParaRPr lang="en-US" sz="1200"/>
          </a:p>
        </p:txBody>
      </p:sp>
      <p:sp>
        <p:nvSpPr>
          <p:cNvPr id="117628395" name="Text 9"/>
          <p:cNvSpPr txBox="1"/>
          <p:nvPr/>
        </p:nvSpPr>
        <p:spPr bwMode="auto">
          <a:xfrm>
            <a:off x="548640" y="4160519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i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How might we use AI to forecast air quality deterioration so that vulnerable residents can act before exposure, not after?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003624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AI solution overview</a:t>
            </a:r>
            <a:endParaRPr lang="en-US" sz="3200"/>
          </a:p>
        </p:txBody>
      </p:sp>
      <p:sp>
        <p:nvSpPr>
          <p:cNvPr id="173835803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Three AI jobs, one pipeline</a:t>
            </a:r>
            <a:endParaRPr lang="en-US" sz="1300"/>
          </a:p>
        </p:txBody>
      </p:sp>
      <p:sp>
        <p:nvSpPr>
          <p:cNvPr id="326339328" name="Shape 2"/>
          <p:cNvSpPr/>
          <p:nvPr/>
        </p:nvSpPr>
        <p:spPr bwMode="auto">
          <a:xfrm>
            <a:off x="548640" y="160020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894018813" name="Shape 3"/>
          <p:cNvSpPr/>
          <p:nvPr/>
        </p:nvSpPr>
        <p:spPr bwMode="auto">
          <a:xfrm>
            <a:off x="777240" y="1828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345367895" name="Text 4"/>
          <p:cNvSpPr txBox="1"/>
          <p:nvPr/>
        </p:nvSpPr>
        <p:spPr bwMode="auto">
          <a:xfrm>
            <a:off x="777240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  <a:endParaRPr lang="en-US" sz="1400"/>
          </a:p>
        </p:txBody>
      </p:sp>
      <p:sp>
        <p:nvSpPr>
          <p:cNvPr id="537724820" name="Text 5"/>
          <p:cNvSpPr txBox="1"/>
          <p:nvPr/>
        </p:nvSpPr>
        <p:spPr bwMode="auto">
          <a:xfrm>
            <a:off x="77724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Forecast engine</a:t>
            </a:r>
            <a:endParaRPr lang="en-US" sz="1500"/>
          </a:p>
        </p:txBody>
      </p:sp>
      <p:sp>
        <p:nvSpPr>
          <p:cNvPr id="1479493411" name="Text 6"/>
          <p:cNvSpPr txBox="1"/>
          <p:nvPr/>
        </p:nvSpPr>
        <p:spPr bwMode="auto">
          <a:xfrm>
            <a:off x="777240" y="283464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Predicts the AQI band 24 to 48 hours ahead from AQI history, wind speed, temperature inversion and season.</a:t>
            </a:r>
            <a:endParaRPr lang="en-US" sz="1100"/>
          </a:p>
        </p:txBody>
      </p:sp>
      <p:sp>
        <p:nvSpPr>
          <p:cNvPr id="248065361" name="Shape 7"/>
          <p:cNvSpPr/>
          <p:nvPr/>
        </p:nvSpPr>
        <p:spPr bwMode="auto">
          <a:xfrm>
            <a:off x="3291840" y="160020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425022409" name="Shape 8"/>
          <p:cNvSpPr/>
          <p:nvPr/>
        </p:nvSpPr>
        <p:spPr bwMode="auto">
          <a:xfrm>
            <a:off x="3520440" y="1828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61928390" name="Text 9"/>
          <p:cNvSpPr txBox="1"/>
          <p:nvPr/>
        </p:nvSpPr>
        <p:spPr bwMode="auto">
          <a:xfrm>
            <a:off x="3520440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  <a:endParaRPr lang="en-US" sz="1400"/>
          </a:p>
        </p:txBody>
      </p:sp>
      <p:sp>
        <p:nvSpPr>
          <p:cNvPr id="886932496" name="Text 10"/>
          <p:cNvSpPr txBox="1"/>
          <p:nvPr/>
        </p:nvSpPr>
        <p:spPr bwMode="auto">
          <a:xfrm>
            <a:off x="352044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Retrieval layer</a:t>
            </a:r>
            <a:endParaRPr lang="en-US" sz="1500"/>
          </a:p>
        </p:txBody>
      </p:sp>
      <p:sp>
        <p:nvSpPr>
          <p:cNvPr id="31590171" name="Text 11"/>
          <p:cNvSpPr txBox="1"/>
          <p:nvPr/>
        </p:nvSpPr>
        <p:spPr bwMode="auto">
          <a:xfrm>
            <a:off x="3520440" y="283464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RAG over CPCB categories, GRAP stage rules and WHO guidance, so every claim is grounded in a real source.</a:t>
            </a:r>
            <a:endParaRPr lang="en-US" sz="1100"/>
          </a:p>
        </p:txBody>
      </p:sp>
      <p:sp>
        <p:nvSpPr>
          <p:cNvPr id="328362573" name="Shape 12"/>
          <p:cNvSpPr/>
          <p:nvPr/>
        </p:nvSpPr>
        <p:spPr bwMode="auto">
          <a:xfrm>
            <a:off x="6035039" y="1600200"/>
            <a:ext cx="25146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878253513" name="Shape 13"/>
          <p:cNvSpPr/>
          <p:nvPr/>
        </p:nvSpPr>
        <p:spPr bwMode="auto">
          <a:xfrm>
            <a:off x="6263640" y="1828800"/>
            <a:ext cx="502920" cy="502920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608877413" name="Text 14"/>
          <p:cNvSpPr txBox="1"/>
          <p:nvPr/>
        </p:nvSpPr>
        <p:spPr bwMode="auto">
          <a:xfrm>
            <a:off x="6263640" y="190195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400"/>
          </a:p>
        </p:txBody>
      </p:sp>
      <p:sp>
        <p:nvSpPr>
          <p:cNvPr id="633205494" name="Text 15"/>
          <p:cNvSpPr txBox="1"/>
          <p:nvPr/>
        </p:nvSpPr>
        <p:spPr bwMode="auto">
          <a:xfrm>
            <a:off x="626364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Personalisation</a:t>
            </a:r>
            <a:endParaRPr lang="en-US" sz="1500"/>
          </a:p>
        </p:txBody>
      </p:sp>
      <p:sp>
        <p:nvSpPr>
          <p:cNvPr id="106339973" name="Text 16"/>
          <p:cNvSpPr txBox="1"/>
          <p:nvPr/>
        </p:nvSpPr>
        <p:spPr bwMode="auto">
          <a:xfrm>
            <a:off x="6263640" y="2834640"/>
            <a:ext cx="2057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Turns the forecast into plain-language advice for one household, in Hindi and English.</a:t>
            </a:r>
            <a:endParaRPr lang="en-US" sz="1100"/>
          </a:p>
        </p:txBody>
      </p:sp>
      <p:sp>
        <p:nvSpPr>
          <p:cNvPr id="1517126653" name="Text 17"/>
          <p:cNvSpPr txBox="1"/>
          <p:nvPr/>
        </p:nvSpPr>
        <p:spPr bwMode="auto"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Built with prompt engineering, IBM Granite models and a small RAG corpus — no model training required.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389975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Target users</a:t>
            </a:r>
            <a:endParaRPr lang="en-US" sz="3200"/>
          </a:p>
        </p:txBody>
      </p:sp>
      <p:sp>
        <p:nvSpPr>
          <p:cNvPr id="317168818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People who need a decision, not a dashboard</a:t>
            </a:r>
            <a:endParaRPr lang="en-US" sz="1300"/>
          </a:p>
        </p:txBody>
      </p:sp>
      <p:sp>
        <p:nvSpPr>
          <p:cNvPr id="475398148" name="Shape 2"/>
          <p:cNvSpPr/>
          <p:nvPr/>
        </p:nvSpPr>
        <p:spPr bwMode="auto">
          <a:xfrm>
            <a:off x="548640" y="160020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0573021" name="Shape 3"/>
          <p:cNvSpPr/>
          <p:nvPr/>
        </p:nvSpPr>
        <p:spPr bwMode="auto">
          <a:xfrm>
            <a:off x="749808" y="1984248"/>
            <a:ext cx="347472" cy="3474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532341347" name="Text 4"/>
          <p:cNvSpPr txBox="1"/>
          <p:nvPr/>
        </p:nvSpPr>
        <p:spPr bwMode="auto">
          <a:xfrm>
            <a:off x="123444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Parents of school-age children</a:t>
            </a:r>
            <a:endParaRPr lang="en-US" sz="1300"/>
          </a:p>
        </p:txBody>
      </p:sp>
      <p:sp>
        <p:nvSpPr>
          <p:cNvPr id="1137153271" name="Text 5"/>
          <p:cNvSpPr txBox="1"/>
          <p:nvPr/>
        </p:nvSpPr>
        <p:spPr bwMode="auto">
          <a:xfrm>
            <a:off x="1234440" y="2075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Deciding on outdoor play, sports practice, the walk to school.</a:t>
            </a:r>
            <a:endParaRPr lang="en-US" sz="1100"/>
          </a:p>
        </p:txBody>
      </p:sp>
      <p:sp>
        <p:nvSpPr>
          <p:cNvPr id="209019172" name="Shape 6"/>
          <p:cNvSpPr/>
          <p:nvPr/>
        </p:nvSpPr>
        <p:spPr bwMode="auto">
          <a:xfrm>
            <a:off x="4617720" y="160020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390948474" name="Shape 7"/>
          <p:cNvSpPr/>
          <p:nvPr/>
        </p:nvSpPr>
        <p:spPr bwMode="auto">
          <a:xfrm>
            <a:off x="4818888" y="1984248"/>
            <a:ext cx="347472" cy="3474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1051552567" name="Text 8"/>
          <p:cNvSpPr txBox="1"/>
          <p:nvPr/>
        </p:nvSpPr>
        <p:spPr bwMode="auto">
          <a:xfrm>
            <a:off x="5303520" y="1783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Elderly and asthma/COPD patients</a:t>
            </a:r>
            <a:endParaRPr lang="en-US" sz="1300"/>
          </a:p>
        </p:txBody>
      </p:sp>
      <p:sp>
        <p:nvSpPr>
          <p:cNvPr id="350244661" name="Text 9"/>
          <p:cNvSpPr txBox="1"/>
          <p:nvPr/>
        </p:nvSpPr>
        <p:spPr bwMode="auto">
          <a:xfrm>
            <a:off x="5303520" y="20756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Highest clinical risk from PM2.5; smallest margin for error.</a:t>
            </a:r>
            <a:endParaRPr lang="en-US" sz="1100"/>
          </a:p>
        </p:txBody>
      </p:sp>
      <p:sp>
        <p:nvSpPr>
          <p:cNvPr id="1400453668" name="Shape 10"/>
          <p:cNvSpPr/>
          <p:nvPr/>
        </p:nvSpPr>
        <p:spPr bwMode="auto">
          <a:xfrm>
            <a:off x="548640" y="297180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76937870" name="Shape 11"/>
          <p:cNvSpPr/>
          <p:nvPr/>
        </p:nvSpPr>
        <p:spPr bwMode="auto">
          <a:xfrm>
            <a:off x="749808" y="3355848"/>
            <a:ext cx="347472" cy="347472"/>
          </a:xfrm>
          <a:prstGeom prst="ellipse">
            <a:avLst/>
          </a:prstGeom>
          <a:solidFill>
            <a:srgbClr val="D98324"/>
          </a:solidFill>
          <a:ln/>
        </p:spPr>
      </p:sp>
      <p:sp>
        <p:nvSpPr>
          <p:cNvPr id="28677792" name="Text 12"/>
          <p:cNvSpPr txBox="1"/>
          <p:nvPr/>
        </p:nvSpPr>
        <p:spPr bwMode="auto">
          <a:xfrm>
            <a:off x="123444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Outdoor workers</a:t>
            </a:r>
            <a:endParaRPr lang="en-US" sz="1300"/>
          </a:p>
        </p:txBody>
      </p:sp>
      <p:sp>
        <p:nvSpPr>
          <p:cNvPr id="808755933" name="Text 13"/>
          <p:cNvSpPr txBox="1"/>
          <p:nvPr/>
        </p:nvSpPr>
        <p:spPr bwMode="auto">
          <a:xfrm>
            <a:off x="1234440" y="34472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Street vendors, delivery riders, construction labour — longest daily exposure.</a:t>
            </a:r>
            <a:endParaRPr lang="en-US" sz="1100"/>
          </a:p>
        </p:txBody>
      </p:sp>
      <p:sp>
        <p:nvSpPr>
          <p:cNvPr id="561004611" name="Shape 14"/>
          <p:cNvSpPr/>
          <p:nvPr/>
        </p:nvSpPr>
        <p:spPr bwMode="auto">
          <a:xfrm>
            <a:off x="4617720" y="2971800"/>
            <a:ext cx="3794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461444114" name="Shape 15"/>
          <p:cNvSpPr/>
          <p:nvPr/>
        </p:nvSpPr>
        <p:spPr bwMode="auto">
          <a:xfrm>
            <a:off x="4818888" y="3355848"/>
            <a:ext cx="347472" cy="347472"/>
          </a:xfrm>
          <a:prstGeom prst="ellipse">
            <a:avLst/>
          </a:prstGeom>
          <a:solidFill>
            <a:srgbClr val="1D8A6A"/>
          </a:solidFill>
          <a:ln/>
        </p:spPr>
      </p:sp>
      <p:sp>
        <p:nvSpPr>
          <p:cNvPr id="964306329" name="Text 16"/>
          <p:cNvSpPr txBox="1"/>
          <p:nvPr/>
        </p:nvSpPr>
        <p:spPr bwMode="auto">
          <a:xfrm>
            <a:off x="5303520" y="31546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Schools and RWAs</a:t>
            </a:r>
            <a:endParaRPr lang="en-US" sz="1300"/>
          </a:p>
        </p:txBody>
      </p:sp>
      <p:sp>
        <p:nvSpPr>
          <p:cNvPr id="177645381" name="Text 17"/>
          <p:cNvSpPr txBox="1"/>
          <p:nvPr/>
        </p:nvSpPr>
        <p:spPr bwMode="auto">
          <a:xfrm>
            <a:off x="5303520" y="34472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Institutional decisions: indoor assembly, purifier use, event timing.</a:t>
            </a:r>
            <a:endParaRPr lang="en-US" sz="1100"/>
          </a:p>
        </p:txBody>
      </p:sp>
      <p:sp>
        <p:nvSpPr>
          <p:cNvPr id="246217923" name="Text 18"/>
          <p:cNvSpPr txBox="1"/>
          <p:nvPr/>
        </p:nvSpPr>
        <p:spPr bwMode="auto"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Primary users in amber, institutional users in green.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798180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Prototype — prompt workflow</a:t>
            </a:r>
            <a:endParaRPr lang="en-US" sz="3200"/>
          </a:p>
        </p:txBody>
      </p:sp>
      <p:sp>
        <p:nvSpPr>
          <p:cNvPr id="170303770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Three chained prompts, JSON passed between them</a:t>
            </a:r>
            <a:endParaRPr lang="en-US" sz="1300"/>
          </a:p>
        </p:txBody>
      </p:sp>
      <p:sp>
        <p:nvSpPr>
          <p:cNvPr id="503980690" name="Shape 2"/>
          <p:cNvSpPr/>
          <p:nvPr/>
        </p:nvSpPr>
        <p:spPr bwMode="auto">
          <a:xfrm>
            <a:off x="548640" y="164592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2372322" name="Text 3"/>
          <p:cNvSpPr txBox="1"/>
          <p:nvPr/>
        </p:nvSpPr>
        <p:spPr bwMode="auto">
          <a:xfrm>
            <a:off x="749808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Prompt 1</a:t>
            </a:r>
            <a:endParaRPr lang="en-US" sz="1000"/>
          </a:p>
        </p:txBody>
      </p:sp>
      <p:sp>
        <p:nvSpPr>
          <p:cNvPr id="986216510" name="Text 4"/>
          <p:cNvSpPr txBox="1"/>
          <p:nvPr/>
        </p:nvSpPr>
        <p:spPr bwMode="auto">
          <a:xfrm>
            <a:off x="749808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Forecast</a:t>
            </a:r>
            <a:endParaRPr lang="en-US" sz="1700"/>
          </a:p>
        </p:txBody>
      </p:sp>
      <p:sp>
        <p:nvSpPr>
          <p:cNvPr id="1032833678" name="Text 5"/>
          <p:cNvSpPr txBox="1"/>
          <p:nvPr/>
        </p:nvSpPr>
        <p:spPr bwMode="auto">
          <a:xfrm>
            <a:off x="749808" y="24505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Returns JSON: AQI band, range, confidence, key driver.</a:t>
            </a:r>
            <a:endParaRPr lang="en-US" sz="1100"/>
          </a:p>
        </p:txBody>
      </p:sp>
      <p:sp>
        <p:nvSpPr>
          <p:cNvPr id="1406953021" name="Text 6"/>
          <p:cNvSpPr txBox="1"/>
          <p:nvPr/>
        </p:nvSpPr>
        <p:spPr bwMode="auto">
          <a:xfrm>
            <a:off x="2999232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1837790427" name="Shape 7"/>
          <p:cNvSpPr/>
          <p:nvPr/>
        </p:nvSpPr>
        <p:spPr bwMode="auto">
          <a:xfrm>
            <a:off x="3383280" y="164592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583358376" name="Text 8"/>
          <p:cNvSpPr txBox="1"/>
          <p:nvPr/>
        </p:nvSpPr>
        <p:spPr bwMode="auto">
          <a:xfrm>
            <a:off x="3584448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Prompt 2</a:t>
            </a:r>
            <a:endParaRPr lang="en-US" sz="1000"/>
          </a:p>
        </p:txBody>
      </p:sp>
      <p:sp>
        <p:nvSpPr>
          <p:cNvPr id="1818335583" name="Text 9"/>
          <p:cNvSpPr txBox="1"/>
          <p:nvPr/>
        </p:nvSpPr>
        <p:spPr bwMode="auto">
          <a:xfrm>
            <a:off x="3584448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Ground</a:t>
            </a:r>
            <a:endParaRPr lang="en-US" sz="1700"/>
          </a:p>
        </p:txBody>
      </p:sp>
      <p:sp>
        <p:nvSpPr>
          <p:cNvPr id="1777866841" name="Text 10"/>
          <p:cNvSpPr txBox="1"/>
          <p:nvPr/>
        </p:nvSpPr>
        <p:spPr bwMode="auto">
          <a:xfrm>
            <a:off x="3584448" y="24505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Retrieves GRAP stage and health precautions; cites the source document.</a:t>
            </a:r>
            <a:endParaRPr lang="en-US" sz="1100"/>
          </a:p>
        </p:txBody>
      </p:sp>
      <p:sp>
        <p:nvSpPr>
          <p:cNvPr id="102673396" name="Text 11"/>
          <p:cNvSpPr txBox="1"/>
          <p:nvPr/>
        </p:nvSpPr>
        <p:spPr bwMode="auto">
          <a:xfrm>
            <a:off x="5833872" y="23774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→</a:t>
            </a:r>
            <a:endParaRPr lang="en-US" sz="2000"/>
          </a:p>
        </p:txBody>
      </p:sp>
      <p:sp>
        <p:nvSpPr>
          <p:cNvPr id="886722884" name="Shape 12"/>
          <p:cNvSpPr/>
          <p:nvPr/>
        </p:nvSpPr>
        <p:spPr bwMode="auto">
          <a:xfrm>
            <a:off x="6217920" y="164592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22303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687750183" name="Text 13"/>
          <p:cNvSpPr txBox="1"/>
          <p:nvPr/>
        </p:nvSpPr>
        <p:spPr bwMode="auto">
          <a:xfrm>
            <a:off x="6419088" y="181051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Prompt 3</a:t>
            </a:r>
            <a:endParaRPr lang="en-US" sz="1000"/>
          </a:p>
        </p:txBody>
      </p:sp>
      <p:sp>
        <p:nvSpPr>
          <p:cNvPr id="1228984633" name="Text 14"/>
          <p:cNvSpPr txBox="1"/>
          <p:nvPr/>
        </p:nvSpPr>
        <p:spPr bwMode="auto">
          <a:xfrm>
            <a:off x="6419088" y="20574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Advise</a:t>
            </a:r>
            <a:endParaRPr lang="en-US" sz="1700"/>
          </a:p>
        </p:txBody>
      </p:sp>
      <p:sp>
        <p:nvSpPr>
          <p:cNvPr id="245166349" name="Text 15"/>
          <p:cNvSpPr txBox="1"/>
          <p:nvPr/>
        </p:nvSpPr>
        <p:spPr bwMode="auto">
          <a:xfrm>
            <a:off x="6419088" y="2450592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Writes a brief under 120 words, bilingual, decision first.</a:t>
            </a:r>
            <a:endParaRPr lang="en-US" sz="1100"/>
          </a:p>
        </p:txBody>
      </p:sp>
      <p:sp>
        <p:nvSpPr>
          <p:cNvPr id="1570845445" name="Shape 16"/>
          <p:cNvSpPr/>
          <p:nvPr/>
        </p:nvSpPr>
        <p:spPr bwMode="auto">
          <a:xfrm>
            <a:off x="548640" y="374904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069933646" name="Text 17"/>
          <p:cNvSpPr txBox="1"/>
          <p:nvPr/>
        </p:nvSpPr>
        <p:spPr bwMode="auto">
          <a:xfrm>
            <a:off x="777240" y="3858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 b="1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Demo plan</a:t>
            </a:r>
            <a:endParaRPr lang="en-US" sz="1100"/>
          </a:p>
        </p:txBody>
      </p:sp>
      <p:sp>
        <p:nvSpPr>
          <p:cNvPr id="1694548765" name="Text 18"/>
          <p:cNvSpPr txBox="1"/>
          <p:nvPr/>
        </p:nvSpPr>
        <p:spPr bwMode="auto">
          <a:xfrm>
            <a:off x="777240" y="409651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Run the same profile on a clear September day and a peak-smog November day, plus one deliberate failure case with missing wind data — the system lowers its confidence instead of guessing.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22303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769529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Responsible AI considerations</a:t>
            </a:r>
            <a:endParaRPr lang="en-US" sz="3200"/>
          </a:p>
        </p:txBody>
      </p:sp>
      <p:sp>
        <p:nvSpPr>
          <p:cNvPr id="1770443881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E8C9A0"/>
                </a:solidFill>
                <a:latin typeface="Calibri"/>
                <a:ea typeface="Calibri"/>
                <a:cs typeface="Calibri"/>
              </a:rPr>
              <a:t>A wrong “air is fine” reading causes real harm — these are safeguards, not slogans</a:t>
            </a:r>
            <a:endParaRPr lang="en-US" sz="1300"/>
          </a:p>
        </p:txBody>
      </p:sp>
      <p:sp>
        <p:nvSpPr>
          <p:cNvPr id="1923026157" name="Shape 2"/>
          <p:cNvSpPr/>
          <p:nvPr/>
        </p:nvSpPr>
        <p:spPr bwMode="auto">
          <a:xfrm>
            <a:off x="548640" y="155448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2E3F4E"/>
          </a:solidFill>
          <a:ln/>
        </p:spPr>
      </p:sp>
      <p:sp>
        <p:nvSpPr>
          <p:cNvPr id="316390716" name="Text 3"/>
          <p:cNvSpPr txBox="1"/>
          <p:nvPr/>
        </p:nvSpPr>
        <p:spPr bwMode="auto">
          <a:xfrm>
            <a:off x="77724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Transparency</a:t>
            </a:r>
            <a:endParaRPr lang="en-US" sz="1400"/>
          </a:p>
        </p:txBody>
      </p:sp>
      <p:sp>
        <p:nvSpPr>
          <p:cNvPr id="74171356" name="Text 4"/>
          <p:cNvSpPr txBox="1"/>
          <p:nvPr/>
        </p:nvSpPr>
        <p:spPr bwMode="auto">
          <a:xfrm>
            <a:off x="777240" y="20299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Every forecast ships with a confidence level. Low confidence is stated, never hidden.</a:t>
            </a:r>
            <a:endParaRPr lang="en-US" sz="1100"/>
          </a:p>
        </p:txBody>
      </p:sp>
      <p:sp>
        <p:nvSpPr>
          <p:cNvPr id="1661450713" name="Shape 5"/>
          <p:cNvSpPr/>
          <p:nvPr/>
        </p:nvSpPr>
        <p:spPr bwMode="auto">
          <a:xfrm>
            <a:off x="4617720" y="1554480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2E3F4E"/>
          </a:solidFill>
          <a:ln/>
        </p:spPr>
      </p:sp>
      <p:sp>
        <p:nvSpPr>
          <p:cNvPr id="2094541969" name="Text 6"/>
          <p:cNvSpPr txBox="1"/>
          <p:nvPr/>
        </p:nvSpPr>
        <p:spPr bwMode="auto">
          <a:xfrm>
            <a:off x="4846320" y="17190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Fairness</a:t>
            </a:r>
            <a:endParaRPr lang="en-US" sz="1400"/>
          </a:p>
        </p:txBody>
      </p:sp>
      <p:sp>
        <p:nvSpPr>
          <p:cNvPr id="693486718" name="Text 7"/>
          <p:cNvSpPr txBox="1"/>
          <p:nvPr/>
        </p:nvSpPr>
        <p:spPr bwMode="auto">
          <a:xfrm>
            <a:off x="4846320" y="20299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Monitoring stations cluster unevenly; outer and informal settlements have sparser data. The system says so rather than implying citywide accuracy.</a:t>
            </a:r>
            <a:endParaRPr lang="en-US" sz="1100"/>
          </a:p>
        </p:txBody>
      </p:sp>
      <p:sp>
        <p:nvSpPr>
          <p:cNvPr id="2021053806" name="Shape 8"/>
          <p:cNvSpPr/>
          <p:nvPr/>
        </p:nvSpPr>
        <p:spPr bwMode="auto">
          <a:xfrm>
            <a:off x="548640" y="3017519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2E3F4E"/>
          </a:solidFill>
          <a:ln/>
        </p:spPr>
      </p:sp>
      <p:sp>
        <p:nvSpPr>
          <p:cNvPr id="110477492" name="Text 9"/>
          <p:cNvSpPr txBox="1"/>
          <p:nvPr/>
        </p:nvSpPr>
        <p:spPr bwMode="auto">
          <a:xfrm>
            <a:off x="777240" y="3182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Ethics</a:t>
            </a:r>
            <a:endParaRPr lang="en-US" sz="1400"/>
          </a:p>
        </p:txBody>
      </p:sp>
      <p:sp>
        <p:nvSpPr>
          <p:cNvPr id="1860565537" name="Text 10"/>
          <p:cNvSpPr txBox="1"/>
          <p:nvPr/>
        </p:nvSpPr>
        <p:spPr bwMode="auto">
          <a:xfrm>
            <a:off x="777240" y="34930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Precaution guidance only. No diagnosis, no medication advice. Serious symptoms are routed to a doctor.</a:t>
            </a:r>
            <a:endParaRPr lang="en-US" sz="1100"/>
          </a:p>
        </p:txBody>
      </p:sp>
      <p:sp>
        <p:nvSpPr>
          <p:cNvPr id="1798549127" name="Shape 11"/>
          <p:cNvSpPr/>
          <p:nvPr/>
        </p:nvSpPr>
        <p:spPr bwMode="auto">
          <a:xfrm>
            <a:off x="4617720" y="3017519"/>
            <a:ext cx="3794760" cy="1280160"/>
          </a:xfrm>
          <a:prstGeom prst="roundRect">
            <a:avLst>
              <a:gd name="adj" fmla="val 5714"/>
            </a:avLst>
          </a:prstGeom>
          <a:solidFill>
            <a:srgbClr val="2E3F4E"/>
          </a:solidFill>
          <a:ln/>
        </p:spPr>
      </p:sp>
      <p:sp>
        <p:nvSpPr>
          <p:cNvPr id="1374550019" name="Text 12"/>
          <p:cNvSpPr txBox="1"/>
          <p:nvPr/>
        </p:nvSpPr>
        <p:spPr bwMode="auto">
          <a:xfrm>
            <a:off x="4846320" y="318211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Privacy</a:t>
            </a:r>
            <a:endParaRPr lang="en-US" sz="1400"/>
          </a:p>
        </p:txBody>
      </p:sp>
      <p:sp>
        <p:nvSpPr>
          <p:cNvPr id="266682084" name="Text 13"/>
          <p:cNvSpPr txBox="1"/>
          <p:nvPr/>
        </p:nvSpPr>
        <p:spPr bwMode="auto">
          <a:xfrm>
            <a:off x="4846320" y="349300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Health conditions and location are sensitive. Store the minimum, keep the profile on-device where possible.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AFA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659893" name="Text 0"/>
          <p:cNvSpPr txBox="1"/>
          <p:nvPr/>
        </p:nvSpPr>
        <p:spPr bwMode="auto"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22303C"/>
                </a:solidFill>
                <a:latin typeface="Cambria"/>
                <a:ea typeface="Cambria"/>
                <a:cs typeface="Cambria"/>
              </a:rPr>
              <a:t>Expected impact</a:t>
            </a:r>
            <a:endParaRPr lang="en-US" sz="3200"/>
          </a:p>
        </p:txBody>
      </p:sp>
      <p:sp>
        <p:nvSpPr>
          <p:cNvPr id="487412338" name="Text 1"/>
          <p:cNvSpPr txBox="1"/>
          <p:nvPr/>
        </p:nvSpPr>
        <p:spPr bwMode="auto">
          <a:xfrm>
            <a:off x="548640" y="9875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6B7A88"/>
                </a:solidFill>
                <a:latin typeface="Calibri"/>
                <a:ea typeface="Calibri"/>
                <a:cs typeface="Calibri"/>
              </a:rPr>
              <a:t>From reactive to preventive</a:t>
            </a:r>
            <a:endParaRPr lang="en-US" sz="1300"/>
          </a:p>
        </p:txBody>
      </p:sp>
      <p:sp>
        <p:nvSpPr>
          <p:cNvPr id="2066415275" name="Shape 2"/>
          <p:cNvSpPr/>
          <p:nvPr/>
        </p:nvSpPr>
        <p:spPr bwMode="auto">
          <a:xfrm>
            <a:off x="5486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279606800" name="Text 3"/>
          <p:cNvSpPr txBox="1"/>
          <p:nvPr/>
        </p:nvSpPr>
        <p:spPr bwMode="auto">
          <a:xfrm>
            <a:off x="749808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98324"/>
                </a:solidFill>
                <a:latin typeface="Cambria"/>
                <a:ea typeface="Cambria"/>
                <a:cs typeface="Cambria"/>
              </a:rPr>
              <a:t>24–48h</a:t>
            </a:r>
            <a:endParaRPr lang="en-US" sz="3200"/>
          </a:p>
        </p:txBody>
      </p:sp>
      <p:sp>
        <p:nvSpPr>
          <p:cNvPr id="2138739513" name="Text 4"/>
          <p:cNvSpPr txBox="1"/>
          <p:nvPr/>
        </p:nvSpPr>
        <p:spPr bwMode="auto">
          <a:xfrm>
            <a:off x="749808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of lead time before exposure</a:t>
            </a:r>
            <a:endParaRPr lang="en-US" sz="1100"/>
          </a:p>
        </p:txBody>
      </p:sp>
      <p:sp>
        <p:nvSpPr>
          <p:cNvPr id="1186416697" name="Shape 5"/>
          <p:cNvSpPr/>
          <p:nvPr/>
        </p:nvSpPr>
        <p:spPr bwMode="auto">
          <a:xfrm>
            <a:off x="3291840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835951574" name="Text 6"/>
          <p:cNvSpPr txBox="1"/>
          <p:nvPr/>
        </p:nvSpPr>
        <p:spPr bwMode="auto">
          <a:xfrm>
            <a:off x="3493008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98324"/>
                </a:solidFill>
                <a:latin typeface="Cambria"/>
                <a:ea typeface="Cambria"/>
                <a:cs typeface="Cambria"/>
              </a:rPr>
              <a:t>2</a:t>
            </a:r>
            <a:endParaRPr lang="en-US" sz="3200"/>
          </a:p>
        </p:txBody>
      </p:sp>
      <p:sp>
        <p:nvSpPr>
          <p:cNvPr id="431053105" name="Text 7"/>
          <p:cNvSpPr txBox="1"/>
          <p:nvPr/>
        </p:nvSpPr>
        <p:spPr bwMode="auto">
          <a:xfrm>
            <a:off x="3493008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languages, low-bandwidth output</a:t>
            </a:r>
            <a:endParaRPr lang="en-US" sz="1100"/>
          </a:p>
        </p:txBody>
      </p:sp>
      <p:sp>
        <p:nvSpPr>
          <p:cNvPr id="1097956721" name="Shape 8"/>
          <p:cNvSpPr/>
          <p:nvPr/>
        </p:nvSpPr>
        <p:spPr bwMode="auto">
          <a:xfrm>
            <a:off x="6035039" y="16002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1947814350" name="Text 9"/>
          <p:cNvSpPr txBox="1"/>
          <p:nvPr/>
        </p:nvSpPr>
        <p:spPr bwMode="auto">
          <a:xfrm>
            <a:off x="6236208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D98324"/>
                </a:solidFill>
                <a:latin typeface="Cambria"/>
                <a:ea typeface="Cambria"/>
                <a:cs typeface="Cambria"/>
              </a:rPr>
              <a:t>4</a:t>
            </a:r>
            <a:endParaRPr lang="en-US" sz="3200"/>
          </a:p>
        </p:txBody>
      </p:sp>
      <p:sp>
        <p:nvSpPr>
          <p:cNvPr id="342874734" name="Text 10"/>
          <p:cNvSpPr txBox="1"/>
          <p:nvPr/>
        </p:nvSpPr>
        <p:spPr bwMode="auto">
          <a:xfrm>
            <a:off x="6236208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100">
                <a:solidFill>
                  <a:srgbClr val="3E5060"/>
                </a:solidFill>
                <a:latin typeface="Calibri"/>
                <a:ea typeface="Calibri"/>
                <a:cs typeface="Calibri"/>
              </a:rPr>
              <a:t>grounded public sources, no invented health claims</a:t>
            </a:r>
            <a:endParaRPr lang="en-US" sz="1100"/>
          </a:p>
        </p:txBody>
      </p:sp>
      <p:sp>
        <p:nvSpPr>
          <p:cNvPr id="486613925" name="Shape 11"/>
          <p:cNvSpPr/>
          <p:nvPr/>
        </p:nvSpPr>
        <p:spPr bwMode="auto">
          <a:xfrm>
            <a:off x="548640" y="3154680"/>
            <a:ext cx="8046720" cy="1325880"/>
          </a:xfrm>
          <a:prstGeom prst="roundRect">
            <a:avLst>
              <a:gd name="adj" fmla="val 5517"/>
            </a:avLst>
          </a:prstGeom>
          <a:solidFill>
            <a:srgbClr val="22303C"/>
          </a:solidFill>
          <a:ln w="12700">
            <a:solidFill>
              <a:srgbClr val="E2E2DC"/>
            </a:solidFill>
            <a:prstDash val="solid"/>
          </a:ln>
        </p:spPr>
      </p:sp>
      <p:sp>
        <p:nvSpPr>
          <p:cNvPr id="2001842609" name="Text 12"/>
          <p:cNvSpPr txBox="1"/>
          <p:nvPr/>
        </p:nvSpPr>
        <p:spPr bwMode="auto">
          <a:xfrm>
            <a:off x="777240" y="32918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D98324"/>
                </a:solidFill>
                <a:latin typeface="Calibri"/>
                <a:ea typeface="Calibri"/>
                <a:cs typeface="Calibri"/>
              </a:rPr>
              <a:t>What changes if this is implemented</a:t>
            </a:r>
            <a:endParaRPr lang="en-US" sz="1400"/>
          </a:p>
        </p:txBody>
      </p:sp>
      <p:sp>
        <p:nvSpPr>
          <p:cNvPr id="1680044802" name="Text 13"/>
          <p:cNvSpPr txBox="1"/>
          <p:nvPr/>
        </p:nvSpPr>
        <p:spPr bwMode="auto">
          <a:xfrm>
            <a:off x="777240" y="361188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D8DEE3"/>
                </a:solidFill>
                <a:latin typeface="Calibri"/>
                <a:ea typeface="Calibri"/>
                <a:cs typeface="Calibri"/>
              </a:rPr>
              <a:t>Individuals cannot fix Delhi’s air, but they can control their exposure to it. Even one day of warning changes real decisions — masks worn, purifiers switched on, PT period moved indoors, outdoor shifts rescheduled. Scaled across schools and RWAs, that is a measurable reduction in cumulative PM2.5 exposure for the people least able to absorb it.</a:t>
            </a:r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ONLYOFFICE/9.1.0.167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2</cp:revision>
  <dcterms:created xsi:type="dcterms:W3CDTF">2026-09-18T09:12:22Z</dcterms:created>
  <dcterms:modified xsi:type="dcterms:W3CDTF">2026-09-18T11:15:00Z</dcterms:modified>
</cp:coreProperties>
</file>